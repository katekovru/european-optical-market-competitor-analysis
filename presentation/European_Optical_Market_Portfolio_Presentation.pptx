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31750" cap="flat">
              <a:solidFill>
                <a:srgbClr val="2F75B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F75B5"/>
              </a:solidFill>
              <a:ln w="9525" cap="flat">
                <a:solidFill>
                  <a:srgbClr val="2F75B5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6.6879999999999997</c:v>
                </c:pt>
                <c:pt idx="1">
                  <c:v>6.7629999999999999</c:v>
                </c:pt>
                <c:pt idx="2">
                  <c:v>6.9749999999999996</c:v>
                </c:pt>
                <c:pt idx="3">
                  <c:v>7.0250000000000004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47B-4179-BE47-0872FEFB23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A8B4BE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.1"/>
          <c:min val="6.5"/>
        </c:scaling>
        <c:delete val="0"/>
        <c:axPos val="l"/>
        <c:majorGridlines>
          <c:spPr>
            <a:ln w="12700" cap="flat">
              <a:solidFill>
                <a:srgbClr val="DDE3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de-DE" b="0" i="0" u="none" strike="noStrike">
                    <a:solidFill>
                      <a:srgbClr val="000000"/>
                    </a:solidFill>
                    <a:latin typeface="Arial"/>
                  </a:rPr>
                  <a:t>EUR bn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A8B4BE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Complete spectacles</c:v>
                </c:pt>
              </c:strCache>
            </c:strRef>
          </c:tx>
          <c:spPr>
            <a:ln w="29210" cap="flat">
              <a:solidFill>
                <a:srgbClr val="2E8B8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8B8B"/>
              </a:solidFill>
              <a:ln w="9525" cap="flat">
                <a:solidFill>
                  <a:srgbClr val="2E8B8B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12.52</c:v>
                </c:pt>
                <c:pt idx="1">
                  <c:v>12.18</c:v>
                </c:pt>
                <c:pt idx="2">
                  <c:v>12</c:v>
                </c:pt>
                <c:pt idx="3">
                  <c:v>11.77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5F8-47B8-B08E-8E364B647BB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Spectacle lenses</c:v>
                </c:pt>
              </c:strCache>
            </c:strRef>
          </c:tx>
          <c:spPr>
            <a:ln w="29210" cap="flat">
              <a:solidFill>
                <a:srgbClr val="244E7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44E71"/>
              </a:solidFill>
              <a:ln w="9525" cap="flat">
                <a:solidFill>
                  <a:srgbClr val="244E71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38.729999999999997</c:v>
                </c:pt>
                <c:pt idx="1">
                  <c:v>37.74</c:v>
                </c:pt>
                <c:pt idx="2">
                  <c:v>37.18</c:v>
                </c:pt>
                <c:pt idx="3">
                  <c:v>36.56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5F8-47B8-B08E-8E364B647B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A8B4BE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  <c:min val="10"/>
        </c:scaling>
        <c:delete val="0"/>
        <c:axPos val="l"/>
        <c:majorGridlines>
          <c:spPr>
            <a:ln w="12700" cap="flat">
              <a:solidFill>
                <a:srgbClr val="DDE3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de-DE" b="0" i="0" u="none" strike="noStrike">
                    <a:solidFill>
                      <a:srgbClr val="000000"/>
                    </a:solidFill>
                    <a:latin typeface="Arial"/>
                  </a:rPr>
                  <a:t>Million units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A8B4BE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2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8328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37960"/>
            <a:ext cx="11201400" cy="0"/>
          </a:xfrm>
          <a:prstGeom prst="line">
            <a:avLst/>
          </a:prstGeom>
          <a:noFill/>
          <a:ln w="12700">
            <a:solidFill>
              <a:srgbClr val="DCE4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7453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3A1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European Optical Market &amp; Competitor Analysis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543800" y="6574536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3A1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 case | Public secondary research | September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109728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8B4B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109728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8B4B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685800" y="5669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2F75B5"/>
                </a:solidFill>
              </a:rPr>
              <a:t>PORTFOLIO CASE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6583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B3A57"/>
                </a:solidFill>
              </a:rPr>
              <a:t>European Optical Market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B3A57"/>
                </a:solidFill>
              </a:rPr>
              <a:t>&amp; Competitor Analysis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2624328"/>
            <a:ext cx="1828800" cy="0"/>
          </a:xfrm>
          <a:prstGeom prst="line">
            <a:avLst/>
          </a:prstGeom>
          <a:noFill/>
          <a:ln w="3175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685800" y="2852928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2313F"/>
                </a:solidFill>
              </a:rPr>
              <a:t>Market Intelligence working-student application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3410712"/>
            <a:ext cx="5212080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786"/>
                </a:solidFill>
              </a:rPr>
              <a:t>Focus: European ophthalmic spectacle lenses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67786"/>
                </a:solidFill>
              </a:rPr>
              <a:t>Data cut: September 2026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4800600"/>
            <a:ext cx="1417320" cy="310896"/>
          </a:xfrm>
          <a:prstGeom prst="roundRect">
            <a:avLst/>
          </a:prstGeom>
          <a:solidFill>
            <a:srgbClr val="E8F3F8"/>
          </a:solidFill>
          <a:ln w="12700">
            <a:solidFill>
              <a:srgbClr val="E8F3F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758952" y="4864608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B3A57"/>
                </a:solidFill>
              </a:rPr>
              <a:t>Market context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2240280" y="4800600"/>
            <a:ext cx="1417320" cy="310896"/>
          </a:xfrm>
          <a:prstGeom prst="roundRect">
            <a:avLst/>
          </a:prstGeom>
          <a:solidFill>
            <a:srgbClr val="E8F3F8"/>
          </a:solidFill>
          <a:ln w="12700">
            <a:solidFill>
              <a:srgbClr val="E8F3F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2313432" y="4864608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B3A57"/>
                </a:solidFill>
              </a:rPr>
              <a:t>Germany deep dive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3794760" y="4800600"/>
            <a:ext cx="1572768" cy="310896"/>
          </a:xfrm>
          <a:prstGeom prst="roundRect">
            <a:avLst/>
          </a:prstGeom>
          <a:solidFill>
            <a:srgbClr val="E8F3F8"/>
          </a:solidFill>
          <a:ln w="12700">
            <a:solidFill>
              <a:srgbClr val="E8F3F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3867912" y="4864608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B3A57"/>
                </a:solidFill>
              </a:rPr>
              <a:t>Competitor benchmark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5504688" y="4800600"/>
            <a:ext cx="1517904" cy="310896"/>
          </a:xfrm>
          <a:prstGeom prst="roundRect">
            <a:avLst/>
          </a:prstGeom>
          <a:solidFill>
            <a:srgbClr val="E8F3F8"/>
          </a:solidFill>
          <a:ln w="12700">
            <a:solidFill>
              <a:srgbClr val="E8F3F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5577840" y="48646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B3A57"/>
                </a:solidFill>
              </a:rPr>
              <a:t>Strategic implications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685800" y="5559552"/>
            <a:ext cx="6309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AD"/>
                </a:solidFill>
              </a:rPr>
              <a:t>Public secondary research | Excel analysis | Portfolio presentation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046720" y="1508760"/>
            <a:ext cx="3200400" cy="3200400"/>
          </a:xfrm>
          <a:prstGeom prst="ellipse">
            <a:avLst/>
          </a:prstGeom>
          <a:solidFill>
            <a:srgbClr val="DDEBF3">
              <a:alpha val="95000"/>
            </a:srgbClr>
          </a:solidFill>
          <a:ln w="76200">
            <a:solidFill>
              <a:srgbClr val="DDEBF3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8348472" y="1810512"/>
            <a:ext cx="2596896" cy="2596896"/>
          </a:xfrm>
          <a:prstGeom prst="ellipse">
            <a:avLst/>
          </a:prstGeom>
          <a:solidFill>
            <a:srgbClr val="72B8D4">
              <a:alpha val="84000"/>
            </a:srgbClr>
          </a:solidFill>
          <a:ln w="29633">
            <a:solidFill>
              <a:srgbClr val="72B8D4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8659368" y="2121408"/>
            <a:ext cx="1975104" cy="1975104"/>
          </a:xfrm>
          <a:prstGeom prst="ellipse">
            <a:avLst/>
          </a:prstGeom>
          <a:solidFill>
            <a:srgbClr val="2F75B5">
              <a:alpha val="65000"/>
            </a:srgbClr>
          </a:solidFill>
          <a:ln w="12700">
            <a:solidFill>
              <a:srgbClr val="2F75B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8988552" y="2450592"/>
            <a:ext cx="1316736" cy="1316736"/>
          </a:xfrm>
          <a:prstGeom prst="ellipse">
            <a:avLst/>
          </a:prstGeom>
          <a:solidFill>
            <a:srgbClr val="244E71">
              <a:alpha val="48000"/>
            </a:srgbClr>
          </a:solidFill>
          <a:ln w="8467">
            <a:solidFill>
              <a:srgbClr val="244E71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8631936" y="2331720"/>
            <a:ext cx="100584" cy="100584"/>
          </a:xfrm>
          <a:prstGeom prst="ellipse">
            <a:avLst/>
          </a:prstGeom>
          <a:solidFill>
            <a:srgbClr val="2E8B8B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9372600" y="1938528"/>
            <a:ext cx="100584" cy="100584"/>
          </a:xfrm>
          <a:prstGeom prst="ellipse">
            <a:avLst/>
          </a:prstGeom>
          <a:solidFill>
            <a:srgbClr val="2F75B5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10378440" y="2240280"/>
            <a:ext cx="100584" cy="100584"/>
          </a:xfrm>
          <a:prstGeom prst="ellipse">
            <a:avLst/>
          </a:prstGeom>
          <a:solidFill>
            <a:srgbClr val="2E8B8B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10725912" y="3035808"/>
            <a:ext cx="100584" cy="100584"/>
          </a:xfrm>
          <a:prstGeom prst="ellipse">
            <a:avLst/>
          </a:prstGeom>
          <a:solidFill>
            <a:srgbClr val="2F75B5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10040112" y="4041648"/>
            <a:ext cx="100584" cy="100584"/>
          </a:xfrm>
          <a:prstGeom prst="ellipse">
            <a:avLst/>
          </a:prstGeom>
          <a:solidFill>
            <a:srgbClr val="2E8B8B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Shape 25"/>
          <p:cNvSpPr/>
          <p:nvPr/>
        </p:nvSpPr>
        <p:spPr>
          <a:xfrm>
            <a:off x="8988552" y="4251960"/>
            <a:ext cx="100584" cy="100584"/>
          </a:xfrm>
          <a:prstGeom prst="ellipse">
            <a:avLst/>
          </a:prstGeom>
          <a:solidFill>
            <a:srgbClr val="2F75B5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8430768" y="3364992"/>
            <a:ext cx="100584" cy="100584"/>
          </a:xfrm>
          <a:prstGeom prst="ellipse">
            <a:avLst/>
          </a:prstGeom>
          <a:solidFill>
            <a:srgbClr val="2E8B8B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7955280" y="499262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667786"/>
                </a:solidFill>
              </a:rPr>
              <a:t>Biometry  •  Myopia  •  Coatings  •  Channels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2F75B5"/>
                </a:solidFill>
              </a:rPr>
              <a:t>WHAT THE ANALYSIS FOUND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3A57"/>
                </a:solidFill>
              </a:rPr>
              <a:t>Executive 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1051560" cy="0"/>
          </a:xfrm>
          <a:prstGeom prst="line">
            <a:avLst/>
          </a:prstGeom>
          <a:noFill/>
          <a:ln w="28575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685800" y="1371600"/>
            <a:ext cx="310896" cy="310896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685800" y="1426464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43000" y="1353312"/>
            <a:ext cx="4773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B3A57"/>
                </a:solidFill>
              </a:rPr>
              <a:t>Value is more resilient than volume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1143000" y="1627632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313F"/>
                </a:solidFill>
              </a:rPr>
              <a:t>Germany: 2022–2025 sector revenue +5.0%, while complete-spectacle volumes fell ~6.0% and spectacle-lens volumes ~5.6%.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685800" y="2423160"/>
            <a:ext cx="310896" cy="310896"/>
          </a:xfrm>
          <a:prstGeom prst="ellipse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685800" y="2478024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43000" y="2404872"/>
            <a:ext cx="4773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B3A57"/>
                </a:solidFill>
              </a:rPr>
              <a:t>Demographics support long-term relevance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1143000" y="2679192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313F"/>
                </a:solidFill>
              </a:rPr>
              <a:t>22% of the EU population was aged 65+ in 2025, supporting continued relevance of presbyopia correction and premium progressives.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685800" y="3474720"/>
            <a:ext cx="310896" cy="310896"/>
          </a:xfrm>
          <a:prstGeom prst="ellipse">
            <a:avLst/>
          </a:prstGeom>
          <a:solidFill>
            <a:srgbClr val="244E71"/>
          </a:solidFill>
          <a:ln w="12700">
            <a:solidFill>
              <a:srgbClr val="244E7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85800" y="3529584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43000" y="3456432"/>
            <a:ext cx="4773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B3A57"/>
                </a:solidFill>
              </a:rPr>
              <a:t>Personalisation is now a common theme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1143000" y="3730752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313F"/>
                </a:solidFill>
              </a:rPr>
              <a:t>Rodenstock, Essilor, ZEISS and HOYA all use richer biometric, behavioural or wearer-specific inputs in premium lens design.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6236208" y="1371600"/>
            <a:ext cx="310896" cy="310896"/>
          </a:xfrm>
          <a:prstGeom prst="ellipse">
            <a:avLst/>
          </a:prstGeom>
          <a:solidFill>
            <a:srgbClr val="C7964B"/>
          </a:solidFill>
          <a:ln w="12700">
            <a:solidFill>
              <a:srgbClr val="C7964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6236208" y="1426464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693408" y="1353312"/>
            <a:ext cx="4773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B3A57"/>
                </a:solidFill>
              </a:rPr>
              <a:t>Myopia management is a distinct category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6693408" y="1627632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313F"/>
                </a:solidFill>
              </a:rPr>
              <a:t>MyCon 2, Stellest, MyoCare and MiYOSMART show competition increasingly extending beyond standard vision correction.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6236208" y="2651760"/>
            <a:ext cx="310896" cy="310896"/>
          </a:xfrm>
          <a:prstGeom prst="ellipse">
            <a:avLst/>
          </a:prstGeom>
          <a:solidFill>
            <a:srgbClr val="5A9275"/>
          </a:solidFill>
          <a:ln w="12700">
            <a:solidFill>
              <a:srgbClr val="5A927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6236208" y="2706624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693408" y="2633472"/>
            <a:ext cx="4773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B3A57"/>
                </a:solidFill>
              </a:rPr>
              <a:t>C</a:t>
            </a:r>
            <a:r>
              <a:rPr lang="de-DE" sz="1230" b="1" dirty="0" err="1">
                <a:solidFill>
                  <a:srgbClr val="1B3A57"/>
                </a:solidFill>
              </a:rPr>
              <a:t>ompetitor</a:t>
            </a:r>
            <a:r>
              <a:rPr lang="de-DE" sz="1230" b="1" dirty="0">
                <a:solidFill>
                  <a:srgbClr val="1B3A57"/>
                </a:solidFill>
              </a:rPr>
              <a:t> c</a:t>
            </a:r>
            <a:r>
              <a:rPr lang="en-US" sz="1230" b="1" dirty="0" err="1">
                <a:solidFill>
                  <a:srgbClr val="1B3A57"/>
                </a:solidFill>
              </a:rPr>
              <a:t>hannel</a:t>
            </a:r>
            <a:r>
              <a:rPr lang="en-US" sz="1230" b="1" dirty="0">
                <a:solidFill>
                  <a:srgbClr val="1B3A57"/>
                </a:solidFill>
              </a:rPr>
              <a:t> models differ materially</a:t>
            </a:r>
            <a:endParaRPr lang="en-US" sz="1230" dirty="0"/>
          </a:p>
        </p:txBody>
      </p:sp>
      <p:sp>
        <p:nvSpPr>
          <p:cNvPr id="24" name="Text 22"/>
          <p:cNvSpPr/>
          <p:nvPr/>
        </p:nvSpPr>
        <p:spPr>
          <a:xfrm>
            <a:off x="6693408" y="2907792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313F"/>
                </a:solidFill>
              </a:rPr>
              <a:t>EssilorLuxottica combines wholesale with a large proprietary retail and e-commerce footprint, while Rodenstock, ZEISS and HOYA are more strongly partner-led in their go-to-market models.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6236208" y="4224528"/>
            <a:ext cx="5230368" cy="1426464"/>
          </a:xfrm>
          <a:prstGeom prst="roundRect">
            <a:avLst>
              <a:gd name="adj" fmla="val 4487"/>
            </a:avLst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6492240" y="44805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kern="0" spc="100" dirty="0">
                <a:solidFill>
                  <a:srgbClr val="A9C5D9"/>
                </a:solidFill>
              </a:rPr>
              <a:t>BOTTOM LINE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6492240" y="4754880"/>
            <a:ext cx="4681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FFFFFF"/>
                </a:solidFill>
              </a:rPr>
              <a:t>The strategic challenge is less about entering missing categories — and more about proving biometric value, defending myopia evidence and tailoring the channel proposition.</a:t>
            </a:r>
            <a:endParaRPr lang="en-US" sz="1230" dirty="0"/>
          </a:p>
        </p:txBody>
      </p:sp>
      <p:sp>
        <p:nvSpPr>
          <p:cNvPr id="28" name="Text 26"/>
          <p:cNvSpPr/>
          <p:nvPr/>
        </p:nvSpPr>
        <p:spPr>
          <a:xfrm>
            <a:off x="594360" y="6291072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i="1" dirty="0">
                <a:solidFill>
                  <a:srgbClr val="93A1AD"/>
                </a:solidFill>
              </a:rPr>
              <a:t>Sources: ZVA Branchenbericht 2025/26; Eurostat Demography of Europe 2026; official company product and corporate sources.</a:t>
            </a:r>
            <a:endParaRPr lang="en-US" sz="74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109728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8B4B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2F75B5"/>
                </a:solidFill>
              </a:rPr>
              <a:t>MARKET DEFINITION MATTERS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3A57"/>
                </a:solidFill>
              </a:rPr>
              <a:t>Scope and broader European market context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1051560" cy="0"/>
          </a:xfrm>
          <a:prstGeom prst="line">
            <a:avLst/>
          </a:prstGeom>
          <a:noFill/>
          <a:ln w="28575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480060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  <a:effectLst>
            <a:outerShdw blurRad="15240" dist="50800" dir="2700000" algn="bl" rotWithShape="0">
              <a:srgbClr val="C7D0D7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932688" y="16276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kern="0" spc="110" dirty="0">
                <a:solidFill>
                  <a:srgbClr val="2F75B5"/>
                </a:solidFill>
              </a:rPr>
              <a:t>CORE ANALYSIS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932688" y="1901952"/>
            <a:ext cx="4169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1B3A57"/>
                </a:solidFill>
              </a:rPr>
              <a:t>European prescription spectacle lenses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960120" y="2523744"/>
            <a:ext cx="100584" cy="100584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1170432" y="24505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2313F"/>
                </a:solidFill>
              </a:rPr>
              <a:t>Single-vision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960120" y="2953512"/>
            <a:ext cx="100584" cy="100584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1170432" y="28803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2313F"/>
                </a:solidFill>
              </a:rPr>
              <a:t>Progressive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960120" y="3383280"/>
            <a:ext cx="100584" cy="100584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1170432" y="33101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2313F"/>
                </a:solidFill>
              </a:rPr>
              <a:t>Occupational / digital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960120" y="3813048"/>
            <a:ext cx="100584" cy="100584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1170432" y="373989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2313F"/>
                </a:solidFill>
              </a:rPr>
              <a:t>Photochromic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960120" y="4242816"/>
            <a:ext cx="100584" cy="100584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1170432" y="41696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2313F"/>
                </a:solidFill>
              </a:rPr>
              <a:t>Myopia-management lenses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960120" y="4672584"/>
            <a:ext cx="100584" cy="100584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1170432" y="45994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2313F"/>
                </a:solidFill>
              </a:rPr>
              <a:t>Premium coatings as value-add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932688" y="51023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1B3A57"/>
                </a:solidFill>
              </a:rPr>
              <a:t>Why this scope?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932688" y="535838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67786"/>
                </a:solidFill>
              </a:rPr>
              <a:t>Frames, contact lenses and intraocular lenses have different demand drivers and competitive dynamics.</a:t>
            </a:r>
            <a:endParaRPr lang="en-US" sz="910" dirty="0"/>
          </a:p>
        </p:txBody>
      </p:sp>
      <p:sp>
        <p:nvSpPr>
          <p:cNvPr id="22" name="Text 20"/>
          <p:cNvSpPr/>
          <p:nvPr/>
        </p:nvSpPr>
        <p:spPr>
          <a:xfrm>
            <a:off x="5870448" y="135331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1B3A57"/>
                </a:solidFill>
              </a:rPr>
              <a:t>Broader ophthalmic-lens context*</a:t>
            </a:r>
            <a:endParaRPr lang="en-US" sz="1380" dirty="0"/>
          </a:p>
        </p:txBody>
      </p:sp>
      <p:sp>
        <p:nvSpPr>
          <p:cNvPr id="23" name="Shape 21"/>
          <p:cNvSpPr/>
          <p:nvPr/>
        </p:nvSpPr>
        <p:spPr>
          <a:xfrm>
            <a:off x="5870448" y="1847088"/>
            <a:ext cx="1664208" cy="1444752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6035040" y="1984248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667786"/>
                </a:solidFill>
              </a:rPr>
              <a:t>2025 estimate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35040" y="2322576"/>
            <a:ext cx="1335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3A57"/>
                </a:solidFill>
              </a:rPr>
              <a:t>USD 5.4bn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7708392" y="1847088"/>
            <a:ext cx="1664208" cy="1444752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7872984" y="1984248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667786"/>
                </a:solidFill>
              </a:rPr>
              <a:t>2035 forecast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872984" y="2322576"/>
            <a:ext cx="1335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3A57"/>
                </a:solidFill>
              </a:rPr>
              <a:t>USD 8.5bn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9546336" y="1847088"/>
            <a:ext cx="1664208" cy="1444752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9710928" y="1984248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667786"/>
                </a:solidFill>
              </a:rPr>
              <a:t>2026–35 CAGR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710928" y="2322576"/>
            <a:ext cx="1335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3A57"/>
                </a:solidFill>
              </a:rPr>
              <a:t>4.6%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5870448" y="3593592"/>
            <a:ext cx="5340096" cy="1024128"/>
          </a:xfrm>
          <a:prstGeom prst="roundRect">
            <a:avLst>
              <a:gd name="adj" fmla="val 6250"/>
            </a:avLst>
          </a:prstGeom>
          <a:solidFill>
            <a:srgbClr val="F8F1E5"/>
          </a:solidFill>
          <a:ln w="12700">
            <a:solidFill>
              <a:srgbClr val="E5D5B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6126480" y="38221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7964B"/>
                </a:solidFill>
              </a:rPr>
              <a:t>Scope note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931152" y="3730752"/>
            <a:ext cx="3977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2313F"/>
                </a:solidFill>
              </a:rPr>
              <a:t>GMI includes spectacle lenses, contact lenses and IOLs. These figures are used only as wider market context — not as a spectacle-lens TAM.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5870448" y="4828032"/>
            <a:ext cx="5340096" cy="960120"/>
          </a:xfrm>
          <a:prstGeom prst="roundRect">
            <a:avLst>
              <a:gd name="adj" fmla="val 6667"/>
            </a:avLst>
          </a:prstGeom>
          <a:solidFill>
            <a:srgbClr val="E8F3F8"/>
          </a:solidFill>
          <a:ln w="12700">
            <a:solidFill>
              <a:srgbClr val="C9DFEA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36" name="Text 34"/>
          <p:cNvSpPr/>
          <p:nvPr/>
        </p:nvSpPr>
        <p:spPr>
          <a:xfrm>
            <a:off x="6126480" y="502005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3A57"/>
                </a:solidFill>
              </a:rPr>
              <a:t>22%</a:t>
            </a:r>
            <a:endParaRPr lang="en-US" sz="2300" dirty="0"/>
          </a:p>
        </p:txBody>
      </p:sp>
      <p:sp>
        <p:nvSpPr>
          <p:cNvPr id="37" name="Text 35"/>
          <p:cNvSpPr/>
          <p:nvPr/>
        </p:nvSpPr>
        <p:spPr>
          <a:xfrm>
            <a:off x="7086600" y="4965192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22313F"/>
                </a:solidFill>
              </a:rPr>
              <a:t>of the EU population was aged 65+ in 2025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7086600" y="5257800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67786"/>
                </a:solidFill>
              </a:rPr>
              <a:t>Demographic support for presbyopia correction and progressive lenses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594360" y="6291072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i="1" dirty="0">
                <a:solidFill>
                  <a:srgbClr val="93A1AD"/>
                </a:solidFill>
              </a:rPr>
              <a:t>Sources: Global Market Insights — Europe Ophthalmic Lenses Market; Eurostat — Demography of Europe 2026.</a:t>
            </a:r>
            <a:endParaRPr lang="en-US" sz="74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109728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8B4B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2F75B5"/>
                </a:solidFill>
              </a:rPr>
              <a:t>MATURE-MARKET DEEP DIVE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3A57"/>
                </a:solidFill>
              </a:rPr>
              <a:t>Germany: value grows while physical volumes soften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1051560" cy="0"/>
          </a:xfrm>
          <a:prstGeom prst="line">
            <a:avLst/>
          </a:prstGeom>
          <a:noFill/>
          <a:ln w="28575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658368" y="1298448"/>
            <a:ext cx="248716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822960" y="1435608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67786"/>
                </a:solidFill>
              </a:rPr>
              <a:t>Industry revenue, 2022–2025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822960" y="1719072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50" b="1" dirty="0">
                <a:solidFill>
                  <a:srgbClr val="1B3A57"/>
                </a:solidFill>
              </a:rPr>
              <a:t>+5.0%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822960" y="212140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93A1AD"/>
                </a:solidFill>
              </a:rPr>
              <a:t>EUR 6.688bn → EUR 7.025bn</a:t>
            </a:r>
            <a:endParaRPr lang="en-US" sz="710" dirty="0"/>
          </a:p>
        </p:txBody>
      </p:sp>
      <p:sp>
        <p:nvSpPr>
          <p:cNvPr id="9" name="Shape 7"/>
          <p:cNvSpPr/>
          <p:nvPr/>
        </p:nvSpPr>
        <p:spPr>
          <a:xfrm>
            <a:off x="3273552" y="1298448"/>
            <a:ext cx="248716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438144" y="1435608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67786"/>
                </a:solidFill>
              </a:rPr>
              <a:t>Complete spectacles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3438144" y="1719072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50" b="1" dirty="0">
                <a:solidFill>
                  <a:srgbClr val="1B3A57"/>
                </a:solidFill>
              </a:rPr>
              <a:t>−6.0%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3438144" y="212140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93A1AD"/>
                </a:solidFill>
              </a:rPr>
              <a:t>12.52m → 11.77m</a:t>
            </a:r>
            <a:endParaRPr lang="en-US" sz="710" dirty="0"/>
          </a:p>
        </p:txBody>
      </p:sp>
      <p:sp>
        <p:nvSpPr>
          <p:cNvPr id="13" name="Shape 11"/>
          <p:cNvSpPr/>
          <p:nvPr/>
        </p:nvSpPr>
        <p:spPr>
          <a:xfrm>
            <a:off x="5888736" y="1298448"/>
            <a:ext cx="248716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053328" y="1435608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67786"/>
                </a:solidFill>
              </a:rPr>
              <a:t>Spectacle lenses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6053328" y="1719072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50" b="1" dirty="0">
                <a:solidFill>
                  <a:srgbClr val="1B3A57"/>
                </a:solidFill>
              </a:rPr>
              <a:t>−5.6%</a:t>
            </a:r>
            <a:endParaRPr lang="en-US" sz="2050" dirty="0"/>
          </a:p>
        </p:txBody>
      </p:sp>
      <p:sp>
        <p:nvSpPr>
          <p:cNvPr id="16" name="Text 14"/>
          <p:cNvSpPr/>
          <p:nvPr/>
        </p:nvSpPr>
        <p:spPr>
          <a:xfrm>
            <a:off x="6053328" y="212140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93A1AD"/>
                </a:solidFill>
              </a:rPr>
              <a:t>38.73m → 36.56m</a:t>
            </a:r>
            <a:endParaRPr lang="en-US" sz="710" dirty="0"/>
          </a:p>
        </p:txBody>
      </p:sp>
      <p:sp>
        <p:nvSpPr>
          <p:cNvPr id="17" name="Shape 15"/>
          <p:cNvSpPr/>
          <p:nvPr/>
        </p:nvSpPr>
        <p:spPr>
          <a:xfrm>
            <a:off x="8503920" y="1298448"/>
            <a:ext cx="248716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8668512" y="1435608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67786"/>
                </a:solidFill>
              </a:rPr>
              <a:t>Optical retail locations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8668512" y="1719072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50" b="1" dirty="0">
                <a:solidFill>
                  <a:srgbClr val="1B3A57"/>
                </a:solidFill>
              </a:rPr>
              <a:t>−3.6%</a:t>
            </a:r>
            <a:endParaRPr lang="en-US" sz="2050" dirty="0"/>
          </a:p>
        </p:txBody>
      </p:sp>
      <p:sp>
        <p:nvSpPr>
          <p:cNvPr id="20" name="Text 18"/>
          <p:cNvSpPr/>
          <p:nvPr/>
        </p:nvSpPr>
        <p:spPr>
          <a:xfrm>
            <a:off x="8668512" y="212140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93A1AD"/>
                </a:solidFill>
              </a:rPr>
              <a:t>11,100 → 10,700</a:t>
            </a:r>
            <a:endParaRPr lang="en-US" sz="71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658368" y="2697480"/>
          <a:ext cx="525780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 19"/>
          <p:cNvSpPr/>
          <p:nvPr/>
        </p:nvSpPr>
        <p:spPr>
          <a:xfrm>
            <a:off x="868680" y="249631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B3A57"/>
                </a:solidFill>
              </a:rPr>
              <a:t>Industry revenue development</a:t>
            </a:r>
            <a:endParaRPr lang="en-US" sz="1120" dirty="0"/>
          </a:p>
        </p:txBody>
      </p:sp>
      <p:graphicFrame>
        <p:nvGraphicFramePr>
          <p:cNvPr id="23" name="Chart 1"/>
          <p:cNvGraphicFramePr/>
          <p:nvPr/>
        </p:nvGraphicFramePr>
        <p:xfrm>
          <a:off x="6126480" y="2697480"/>
          <a:ext cx="5138928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4" name="Text 20"/>
          <p:cNvSpPr/>
          <p:nvPr/>
        </p:nvSpPr>
        <p:spPr>
          <a:xfrm>
            <a:off x="6336792" y="249631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B3A57"/>
                </a:solidFill>
              </a:rPr>
              <a:t>Unit sales development</a:t>
            </a:r>
            <a:endParaRPr lang="en-US" sz="1120" dirty="0"/>
          </a:p>
        </p:txBody>
      </p:sp>
      <p:sp>
        <p:nvSpPr>
          <p:cNvPr id="25" name="Shape 21"/>
          <p:cNvSpPr/>
          <p:nvPr/>
        </p:nvSpPr>
        <p:spPr>
          <a:xfrm>
            <a:off x="658368" y="5468112"/>
            <a:ext cx="10607040" cy="621792"/>
          </a:xfrm>
          <a:prstGeom prst="roundRect">
            <a:avLst>
              <a:gd name="adj" fmla="val 10294"/>
            </a:avLst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2"/>
          <p:cNvSpPr/>
          <p:nvPr/>
        </p:nvSpPr>
        <p:spPr>
          <a:xfrm>
            <a:off x="896112" y="56692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A9C5D9"/>
                </a:solidFill>
              </a:rPr>
              <a:t>Market structure:</a:t>
            </a:r>
            <a:endParaRPr lang="en-US" sz="870" dirty="0"/>
          </a:p>
        </p:txBody>
      </p:sp>
      <p:sp>
        <p:nvSpPr>
          <p:cNvPr id="27" name="Text 23"/>
          <p:cNvSpPr/>
          <p:nvPr/>
        </p:nvSpPr>
        <p:spPr>
          <a:xfrm>
            <a:off x="1984248" y="5605272"/>
            <a:ext cx="8823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FFFFFF"/>
                </a:solidFill>
              </a:rPr>
              <a:t>Top 10 companies = 55% of sector revenue  •  Online ≈ 5%  •  Value appears more resilient than unit growth</a:t>
            </a:r>
            <a:endParaRPr lang="en-US" sz="1040" dirty="0"/>
          </a:p>
        </p:txBody>
      </p:sp>
      <p:sp>
        <p:nvSpPr>
          <p:cNvPr id="28" name="Text 24"/>
          <p:cNvSpPr/>
          <p:nvPr/>
        </p:nvSpPr>
        <p:spPr>
          <a:xfrm>
            <a:off x="594360" y="6291072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i="1" dirty="0">
                <a:solidFill>
                  <a:srgbClr val="93A1AD"/>
                </a:solidFill>
              </a:rPr>
              <a:t>Source: ZVA Branchenbericht 2025/2026 and detailed ZVA market data.</a:t>
            </a:r>
            <a:endParaRPr lang="en-US" sz="74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109728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8B4B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2F75B5"/>
                </a:solidFill>
              </a:rPr>
              <a:t>FOUR PREMIUM LENS PLAYERS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3A57"/>
                </a:solidFill>
              </a:rPr>
              <a:t>Competitor benchmark: product and technology evidence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1051560" cy="0"/>
          </a:xfrm>
          <a:prstGeom prst="line">
            <a:avLst/>
          </a:prstGeom>
          <a:noFill/>
          <a:ln w="28575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658368" y="1261872"/>
            <a:ext cx="10744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67786"/>
                </a:solidFill>
              </a:rPr>
              <a:t>Personalisation is no longer unique as a category message. The meaningful difference is how each company creates and proves that personalisation.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2697480" cy="416052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  <a:effectLst>
            <a:outerShdw blurRad="15240" dist="50800" dir="2700000" algn="bl" rotWithShape="0">
              <a:srgbClr val="C7D0D7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658368" y="1810512"/>
            <a:ext cx="2697480" cy="109728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804672" y="201168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B3A57"/>
                </a:solidFill>
              </a:rPr>
              <a:t>Rodenstock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2432304"/>
            <a:ext cx="8046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93A1AD"/>
                </a:solidFill>
              </a:rPr>
              <a:t>PERSONALISATION</a:t>
            </a:r>
            <a:endParaRPr lang="en-US" sz="730" dirty="0"/>
          </a:p>
        </p:txBody>
      </p:sp>
      <p:sp>
        <p:nvSpPr>
          <p:cNvPr id="10" name="Text 8"/>
          <p:cNvSpPr/>
          <p:nvPr/>
        </p:nvSpPr>
        <p:spPr>
          <a:xfrm>
            <a:off x="1650402" y="2423160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22313F"/>
                </a:solidFill>
              </a:rPr>
              <a:t>B.I.G. EXACT Sensitive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804672" y="2862072"/>
            <a:ext cx="8046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93A1AD"/>
                </a:solidFill>
              </a:rPr>
              <a:t>MYOPIA</a:t>
            </a:r>
            <a:endParaRPr lang="en-US" sz="730" dirty="0"/>
          </a:p>
        </p:txBody>
      </p:sp>
      <p:sp>
        <p:nvSpPr>
          <p:cNvPr id="12" name="Text 10"/>
          <p:cNvSpPr/>
          <p:nvPr/>
        </p:nvSpPr>
        <p:spPr>
          <a:xfrm>
            <a:off x="1650402" y="2852928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22313F"/>
                </a:solidFill>
              </a:rPr>
              <a:t>MyCon 2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804672" y="3291840"/>
            <a:ext cx="8046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93A1AD"/>
                </a:solidFill>
              </a:rPr>
              <a:t>COATING</a:t>
            </a:r>
            <a:endParaRPr lang="en-US" sz="730" dirty="0"/>
          </a:p>
        </p:txBody>
      </p:sp>
      <p:sp>
        <p:nvSpPr>
          <p:cNvPr id="14" name="Text 12"/>
          <p:cNvSpPr/>
          <p:nvPr/>
        </p:nvSpPr>
        <p:spPr>
          <a:xfrm>
            <a:off x="1650402" y="3282696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22313F"/>
                </a:solidFill>
              </a:rPr>
              <a:t>Solitaire LayR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804672" y="3721608"/>
            <a:ext cx="8046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93A1AD"/>
                </a:solidFill>
              </a:rPr>
              <a:t>APPROACH</a:t>
            </a:r>
            <a:endParaRPr lang="en-US" sz="730" dirty="0"/>
          </a:p>
        </p:txBody>
      </p:sp>
      <p:sp>
        <p:nvSpPr>
          <p:cNvPr id="16" name="Text 14"/>
          <p:cNvSpPr/>
          <p:nvPr/>
        </p:nvSpPr>
        <p:spPr>
          <a:xfrm>
            <a:off x="1650402" y="3712464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22313F"/>
                </a:solidFill>
              </a:rPr>
              <a:t>Biometric individualisation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804672" y="5239512"/>
            <a:ext cx="2404872" cy="0"/>
          </a:xfrm>
          <a:prstGeom prst="line">
            <a:avLst/>
          </a:prstGeom>
          <a:noFill/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804672" y="5385816"/>
            <a:ext cx="2404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2F75B5"/>
                </a:solidFill>
              </a:rPr>
              <a:t>Distinctive story: precise biometric eye model + visual sensitivity + DNEye measurement.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520440" y="1810512"/>
            <a:ext cx="2697480" cy="416052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  <a:effectLst>
            <a:outerShdw blurRad="15240" dist="50800" dir="2700000" algn="bl" rotWithShape="0">
              <a:srgbClr val="C7D0D7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3520440" y="1810512"/>
            <a:ext cx="2697480" cy="109728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3666744" y="201168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B3A57"/>
                </a:solidFill>
              </a:rPr>
              <a:t>Essilor / EssilorLuxottica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666744" y="2432304"/>
            <a:ext cx="8046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93A1AD"/>
                </a:solidFill>
              </a:rPr>
              <a:t>PERSONALISATION</a:t>
            </a:r>
            <a:endParaRPr lang="en-US" sz="730" dirty="0"/>
          </a:p>
        </p:txBody>
      </p:sp>
      <p:sp>
        <p:nvSpPr>
          <p:cNvPr id="23" name="Text 21"/>
          <p:cNvSpPr/>
          <p:nvPr/>
        </p:nvSpPr>
        <p:spPr>
          <a:xfrm>
            <a:off x="4512474" y="2423160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22313F"/>
                </a:solidFill>
              </a:rPr>
              <a:t>Varilux XR series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3666744" y="2862072"/>
            <a:ext cx="8046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93A1AD"/>
                </a:solidFill>
              </a:rPr>
              <a:t>MYOPIA</a:t>
            </a:r>
            <a:endParaRPr lang="en-US" sz="730" dirty="0"/>
          </a:p>
        </p:txBody>
      </p:sp>
      <p:sp>
        <p:nvSpPr>
          <p:cNvPr id="25" name="Text 23"/>
          <p:cNvSpPr/>
          <p:nvPr/>
        </p:nvSpPr>
        <p:spPr>
          <a:xfrm>
            <a:off x="4512474" y="2852928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22313F"/>
                </a:solidFill>
              </a:rPr>
              <a:t>Stellest</a:t>
            </a:r>
            <a:endParaRPr lang="en-US" sz="870" dirty="0"/>
          </a:p>
        </p:txBody>
      </p:sp>
      <p:sp>
        <p:nvSpPr>
          <p:cNvPr id="26" name="Text 24"/>
          <p:cNvSpPr/>
          <p:nvPr/>
        </p:nvSpPr>
        <p:spPr>
          <a:xfrm>
            <a:off x="3666744" y="3291840"/>
            <a:ext cx="8046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93A1AD"/>
                </a:solidFill>
              </a:rPr>
              <a:t>COATING</a:t>
            </a:r>
            <a:endParaRPr lang="en-US" sz="730" dirty="0"/>
          </a:p>
        </p:txBody>
      </p:sp>
      <p:sp>
        <p:nvSpPr>
          <p:cNvPr id="27" name="Text 25"/>
          <p:cNvSpPr/>
          <p:nvPr/>
        </p:nvSpPr>
        <p:spPr>
          <a:xfrm>
            <a:off x="4512474" y="3282696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22313F"/>
                </a:solidFill>
              </a:rPr>
              <a:t>Crizal Sapphire HR</a:t>
            </a:r>
            <a:endParaRPr lang="en-US" sz="870" dirty="0"/>
          </a:p>
        </p:txBody>
      </p:sp>
      <p:sp>
        <p:nvSpPr>
          <p:cNvPr id="28" name="Text 26"/>
          <p:cNvSpPr/>
          <p:nvPr/>
        </p:nvSpPr>
        <p:spPr>
          <a:xfrm>
            <a:off x="3666744" y="3721608"/>
            <a:ext cx="8046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93A1AD"/>
                </a:solidFill>
              </a:rPr>
              <a:t>APPROACH</a:t>
            </a:r>
            <a:endParaRPr lang="en-US" sz="730" dirty="0"/>
          </a:p>
        </p:txBody>
      </p:sp>
      <p:sp>
        <p:nvSpPr>
          <p:cNvPr id="29" name="Text 27"/>
          <p:cNvSpPr/>
          <p:nvPr/>
        </p:nvSpPr>
        <p:spPr>
          <a:xfrm>
            <a:off x="4512474" y="3712464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22313F"/>
                </a:solidFill>
              </a:rPr>
              <a:t>AI-supported progressive design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3666744" y="5239512"/>
            <a:ext cx="2404872" cy="0"/>
          </a:xfrm>
          <a:prstGeom prst="line">
            <a:avLst/>
          </a:prstGeom>
          <a:noFill/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3666744" y="5385816"/>
            <a:ext cx="2404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2E8B8B"/>
                </a:solidFill>
              </a:rPr>
              <a:t>Distinctive story: broad lens ecosystem paired with large retail and distribution reach.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382512" y="1810512"/>
            <a:ext cx="2697480" cy="416052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  <a:effectLst>
            <a:outerShdw blurRad="15240" dist="50800" dir="2700000" algn="bl" rotWithShape="0">
              <a:srgbClr val="C7D0D7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3" name="Shape 31"/>
          <p:cNvSpPr/>
          <p:nvPr/>
        </p:nvSpPr>
        <p:spPr>
          <a:xfrm>
            <a:off x="6382512" y="1810512"/>
            <a:ext cx="2697480" cy="109728"/>
          </a:xfrm>
          <a:prstGeom prst="rect">
            <a:avLst/>
          </a:prstGeom>
          <a:solidFill>
            <a:srgbClr val="244E71"/>
          </a:solidFill>
          <a:ln w="12700">
            <a:solidFill>
              <a:srgbClr val="244E7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6528816" y="201168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B3A57"/>
                </a:solidFill>
              </a:rPr>
              <a:t>ZEISS Vision Care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528816" y="2432304"/>
            <a:ext cx="8046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93A1AD"/>
                </a:solidFill>
              </a:rPr>
              <a:t>PERSONALISATION</a:t>
            </a:r>
            <a:endParaRPr lang="en-US" sz="730" dirty="0"/>
          </a:p>
        </p:txBody>
      </p:sp>
      <p:sp>
        <p:nvSpPr>
          <p:cNvPr id="36" name="Text 34"/>
          <p:cNvSpPr/>
          <p:nvPr/>
        </p:nvSpPr>
        <p:spPr>
          <a:xfrm>
            <a:off x="7391806" y="2423160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22313F"/>
                </a:solidFill>
              </a:rPr>
              <a:t>ClearMind Individual 3</a:t>
            </a:r>
            <a:endParaRPr lang="en-US" sz="870" dirty="0"/>
          </a:p>
        </p:txBody>
      </p:sp>
      <p:sp>
        <p:nvSpPr>
          <p:cNvPr id="37" name="Text 35"/>
          <p:cNvSpPr/>
          <p:nvPr/>
        </p:nvSpPr>
        <p:spPr>
          <a:xfrm>
            <a:off x="6528816" y="2862072"/>
            <a:ext cx="8046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93A1AD"/>
                </a:solidFill>
              </a:rPr>
              <a:t>MYOPIA</a:t>
            </a:r>
            <a:endParaRPr lang="en-US" sz="730" dirty="0"/>
          </a:p>
        </p:txBody>
      </p:sp>
      <p:sp>
        <p:nvSpPr>
          <p:cNvPr id="38" name="Text 36"/>
          <p:cNvSpPr/>
          <p:nvPr/>
        </p:nvSpPr>
        <p:spPr>
          <a:xfrm>
            <a:off x="7391806" y="2852928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22313F"/>
                </a:solidFill>
              </a:rPr>
              <a:t>MyoCare</a:t>
            </a:r>
            <a:endParaRPr lang="en-US" sz="870" dirty="0"/>
          </a:p>
        </p:txBody>
      </p:sp>
      <p:sp>
        <p:nvSpPr>
          <p:cNvPr id="39" name="Text 37"/>
          <p:cNvSpPr/>
          <p:nvPr/>
        </p:nvSpPr>
        <p:spPr>
          <a:xfrm>
            <a:off x="6528816" y="3291840"/>
            <a:ext cx="8046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93A1AD"/>
                </a:solidFill>
              </a:rPr>
              <a:t>COATING</a:t>
            </a:r>
            <a:endParaRPr lang="en-US" sz="730" dirty="0"/>
          </a:p>
        </p:txBody>
      </p:sp>
      <p:sp>
        <p:nvSpPr>
          <p:cNvPr id="40" name="Text 38"/>
          <p:cNvSpPr/>
          <p:nvPr/>
        </p:nvSpPr>
        <p:spPr>
          <a:xfrm>
            <a:off x="7391806" y="3282696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22313F"/>
                </a:solidFill>
              </a:rPr>
              <a:t>DuraVision Plus Gold UV</a:t>
            </a:r>
            <a:endParaRPr lang="en-US" sz="870" dirty="0"/>
          </a:p>
        </p:txBody>
      </p:sp>
      <p:sp>
        <p:nvSpPr>
          <p:cNvPr id="41" name="Text 39"/>
          <p:cNvSpPr/>
          <p:nvPr/>
        </p:nvSpPr>
        <p:spPr>
          <a:xfrm>
            <a:off x="6528816" y="3721608"/>
            <a:ext cx="8046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93A1AD"/>
                </a:solidFill>
              </a:rPr>
              <a:t>APPROACH</a:t>
            </a:r>
            <a:endParaRPr lang="en-US" sz="730" dirty="0"/>
          </a:p>
        </p:txBody>
      </p:sp>
      <p:sp>
        <p:nvSpPr>
          <p:cNvPr id="42" name="Text 40"/>
          <p:cNvSpPr/>
          <p:nvPr/>
        </p:nvSpPr>
        <p:spPr>
          <a:xfrm>
            <a:off x="7391806" y="3712464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22313F"/>
                </a:solidFill>
              </a:rPr>
              <a:t>Anatomy + behaviour-based</a:t>
            </a:r>
            <a:endParaRPr lang="en-US" sz="870" dirty="0"/>
          </a:p>
        </p:txBody>
      </p:sp>
      <p:sp>
        <p:nvSpPr>
          <p:cNvPr id="43" name="Shape 41"/>
          <p:cNvSpPr/>
          <p:nvPr/>
        </p:nvSpPr>
        <p:spPr>
          <a:xfrm>
            <a:off x="6528816" y="5239512"/>
            <a:ext cx="2404872" cy="0"/>
          </a:xfrm>
          <a:prstGeom prst="line">
            <a:avLst/>
          </a:prstGeom>
          <a:noFill/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Text 42"/>
          <p:cNvSpPr/>
          <p:nvPr/>
        </p:nvSpPr>
        <p:spPr>
          <a:xfrm>
            <a:off x="6528816" y="5385816"/>
            <a:ext cx="2404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244E71"/>
                </a:solidFill>
              </a:rPr>
              <a:t>Distinctive story: premium optics, anatomy/behaviour individualisation and coating technology.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9244584" y="1810512"/>
            <a:ext cx="2697480" cy="416052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  <a:effectLst>
            <a:outerShdw blurRad="15240" dist="50800" dir="2700000" algn="bl" rotWithShape="0">
              <a:srgbClr val="C7D0D7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6" name="Shape 44"/>
          <p:cNvSpPr/>
          <p:nvPr/>
        </p:nvSpPr>
        <p:spPr>
          <a:xfrm>
            <a:off x="9244584" y="1810512"/>
            <a:ext cx="2697480" cy="109728"/>
          </a:xfrm>
          <a:prstGeom prst="rect">
            <a:avLst/>
          </a:prstGeom>
          <a:solidFill>
            <a:srgbClr val="5A9275"/>
          </a:solidFill>
          <a:ln w="12700">
            <a:solidFill>
              <a:srgbClr val="5A927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7" name="Text 45"/>
          <p:cNvSpPr/>
          <p:nvPr/>
        </p:nvSpPr>
        <p:spPr>
          <a:xfrm>
            <a:off x="9390888" y="201168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B3A57"/>
                </a:solidFill>
              </a:rPr>
              <a:t>HOYA Vision Care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9390888" y="2432304"/>
            <a:ext cx="8046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93A1AD"/>
                </a:solidFill>
              </a:rPr>
              <a:t>PERSONALISATION</a:t>
            </a:r>
            <a:endParaRPr lang="en-US" sz="730" dirty="0"/>
          </a:p>
        </p:txBody>
      </p:sp>
      <p:sp>
        <p:nvSpPr>
          <p:cNvPr id="49" name="Text 47"/>
          <p:cNvSpPr/>
          <p:nvPr/>
        </p:nvSpPr>
        <p:spPr>
          <a:xfrm>
            <a:off x="10271123" y="2423160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22313F"/>
                </a:solidFill>
              </a:rPr>
              <a:t>Hoyalux iD MySense</a:t>
            </a:r>
            <a:endParaRPr lang="en-US" sz="870" dirty="0"/>
          </a:p>
        </p:txBody>
      </p:sp>
      <p:sp>
        <p:nvSpPr>
          <p:cNvPr id="50" name="Text 48"/>
          <p:cNvSpPr/>
          <p:nvPr/>
        </p:nvSpPr>
        <p:spPr>
          <a:xfrm>
            <a:off x="9390888" y="2862072"/>
            <a:ext cx="8046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93A1AD"/>
                </a:solidFill>
              </a:rPr>
              <a:t>MYOPIA</a:t>
            </a:r>
            <a:endParaRPr lang="en-US" sz="730" dirty="0"/>
          </a:p>
        </p:txBody>
      </p:sp>
      <p:sp>
        <p:nvSpPr>
          <p:cNvPr id="51" name="Text 49"/>
          <p:cNvSpPr/>
          <p:nvPr/>
        </p:nvSpPr>
        <p:spPr>
          <a:xfrm>
            <a:off x="10271123" y="2852928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22313F"/>
                </a:solidFill>
              </a:rPr>
              <a:t>MiYOSMART</a:t>
            </a:r>
            <a:endParaRPr lang="en-US" sz="870" dirty="0"/>
          </a:p>
        </p:txBody>
      </p:sp>
      <p:sp>
        <p:nvSpPr>
          <p:cNvPr id="52" name="Text 50"/>
          <p:cNvSpPr/>
          <p:nvPr/>
        </p:nvSpPr>
        <p:spPr>
          <a:xfrm>
            <a:off x="9390888" y="3291840"/>
            <a:ext cx="8046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93A1AD"/>
                </a:solidFill>
              </a:rPr>
              <a:t>COATING</a:t>
            </a:r>
            <a:endParaRPr lang="en-US" sz="730" dirty="0"/>
          </a:p>
        </p:txBody>
      </p:sp>
      <p:sp>
        <p:nvSpPr>
          <p:cNvPr id="53" name="Text 51"/>
          <p:cNvSpPr/>
          <p:nvPr/>
        </p:nvSpPr>
        <p:spPr>
          <a:xfrm>
            <a:off x="10271123" y="3282696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22313F"/>
                </a:solidFill>
              </a:rPr>
              <a:t>Hi-Vision Meiryo</a:t>
            </a:r>
            <a:endParaRPr lang="en-US" sz="870" dirty="0"/>
          </a:p>
        </p:txBody>
      </p:sp>
      <p:sp>
        <p:nvSpPr>
          <p:cNvPr id="54" name="Text 52"/>
          <p:cNvSpPr/>
          <p:nvPr/>
        </p:nvSpPr>
        <p:spPr>
          <a:xfrm>
            <a:off x="9390888" y="3721608"/>
            <a:ext cx="8046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93A1AD"/>
                </a:solidFill>
              </a:rPr>
              <a:t>APPROACH</a:t>
            </a:r>
            <a:endParaRPr lang="en-US" sz="730" dirty="0"/>
          </a:p>
        </p:txBody>
      </p:sp>
      <p:sp>
        <p:nvSpPr>
          <p:cNvPr id="55" name="Text 53"/>
          <p:cNvSpPr/>
          <p:nvPr/>
        </p:nvSpPr>
        <p:spPr>
          <a:xfrm>
            <a:off x="10271123" y="3712464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22313F"/>
                </a:solidFill>
              </a:rPr>
              <a:t>Visual Sensory Intelligence</a:t>
            </a:r>
            <a:endParaRPr lang="en-US" sz="870" dirty="0"/>
          </a:p>
        </p:txBody>
      </p:sp>
      <p:sp>
        <p:nvSpPr>
          <p:cNvPr id="56" name="Shape 54"/>
          <p:cNvSpPr/>
          <p:nvPr/>
        </p:nvSpPr>
        <p:spPr>
          <a:xfrm>
            <a:off x="9390888" y="5239512"/>
            <a:ext cx="2404872" cy="0"/>
          </a:xfrm>
          <a:prstGeom prst="line">
            <a:avLst/>
          </a:prstGeom>
          <a:noFill/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7" name="Text 55"/>
          <p:cNvSpPr/>
          <p:nvPr/>
        </p:nvSpPr>
        <p:spPr>
          <a:xfrm>
            <a:off x="9390888" y="5385816"/>
            <a:ext cx="2404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A9275"/>
                </a:solidFill>
              </a:rPr>
              <a:t>Distinctive story: personalised progressives plus strong visibility in myopia management.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94360" y="6291072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i="1" dirty="0">
                <a:solidFill>
                  <a:srgbClr val="93A1AD"/>
                </a:solidFill>
              </a:rPr>
              <a:t>Sources: official Rodenstock, Essilor, ZEISS and HOYA product pages (see report/source list).</a:t>
            </a:r>
            <a:endParaRPr lang="en-US" sz="740" dirty="0"/>
          </a:p>
        </p:txBody>
      </p:sp>
      <p:sp>
        <p:nvSpPr>
          <p:cNvPr id="5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109728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8B4B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2F75B5"/>
                </a:solidFill>
              </a:rPr>
              <a:t>COMPARE MODELS — NOT INCOMPATIBLE PUBLIC METRICS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3A57"/>
                </a:solidFill>
              </a:rPr>
              <a:t>Channel model / reach: different routes to market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1051560" cy="0"/>
          </a:xfrm>
          <a:prstGeom prst="line">
            <a:avLst/>
          </a:prstGeom>
          <a:noFill/>
          <a:ln w="28575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658368" y="1243584"/>
            <a:ext cx="10716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786"/>
                </a:solidFill>
              </a:rPr>
              <a:t>Public channel disclosures use different units (countries, partners, stores, labs). The useful comparison is the go-to-market model rather than a single scale ranking.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58368" y="1847088"/>
            <a:ext cx="2240280" cy="3913632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  <a:effectLst>
            <a:outerShdw blurRad="15240" dist="50800" dir="2700000" algn="bl" rotWithShape="0">
              <a:srgbClr val="C7D0D7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658368" y="1847088"/>
            <a:ext cx="2240280" cy="109728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804672" y="2084832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B3A57"/>
                </a:solidFill>
              </a:rPr>
              <a:t>Rodenstock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804672" y="2624328"/>
            <a:ext cx="1353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F75B5"/>
                </a:solidFill>
              </a:rPr>
              <a:t>85+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804672" y="315468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667786"/>
                </a:solidFill>
              </a:rPr>
              <a:t>countries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04672" y="3566160"/>
            <a:ext cx="1901952" cy="310896"/>
          </a:xfrm>
          <a:prstGeom prst="roundRect">
            <a:avLst/>
          </a:prstGeom>
          <a:solidFill>
            <a:srgbClr val="E8F3F8"/>
          </a:solidFill>
          <a:ln w="12700">
            <a:solidFill>
              <a:srgbClr val="E8F3F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877824" y="3630168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B3A57"/>
                </a:solidFill>
              </a:rPr>
              <a:t>Partner-optician-led B2B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804672" y="41605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2313F"/>
                </a:solidFill>
              </a:rPr>
              <a:t>Sales offices and distribution partners; less direct retail integration than EssilorLuxottica.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38728" y="1847088"/>
            <a:ext cx="2240280" cy="3913632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  <a:effectLst>
            <a:outerShdw blurRad="15240" dist="50800" dir="2700000" algn="bl" rotWithShape="0">
              <a:srgbClr val="C7D0D7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3538728" y="1847088"/>
            <a:ext cx="2240280" cy="109728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3685032" y="2084832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B3A57"/>
                </a:solidFill>
              </a:rPr>
              <a:t>EssilorLuxottica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3685032" y="2624328"/>
            <a:ext cx="1353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8B8B"/>
                </a:solidFill>
              </a:rPr>
              <a:t>300k+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3685032" y="315468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667786"/>
                </a:solidFill>
              </a:rPr>
              <a:t>optical partners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85032" y="3566160"/>
            <a:ext cx="1901952" cy="310896"/>
          </a:xfrm>
          <a:prstGeom prst="roundRect">
            <a:avLst/>
          </a:prstGeom>
          <a:solidFill>
            <a:srgbClr val="F8F1E5"/>
          </a:solidFill>
          <a:ln w="12700">
            <a:solidFill>
              <a:srgbClr val="F8F1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3758184" y="3630168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C7964B"/>
                </a:solidFill>
              </a:rPr>
              <a:t>~18k stores • 71 online platforms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3685032" y="41605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2313F"/>
                </a:solidFill>
              </a:rPr>
              <a:t>Most vertically integrated model in this comparison: wholesale + proprietary retail + e-commerce.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19088" y="1847088"/>
            <a:ext cx="2240280" cy="3913632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  <a:effectLst>
            <a:outerShdw blurRad="15240" dist="50800" dir="2700000" algn="bl" rotWithShape="0">
              <a:srgbClr val="C7D0D7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6419088" y="1847088"/>
            <a:ext cx="2240280" cy="109728"/>
          </a:xfrm>
          <a:prstGeom prst="rect">
            <a:avLst/>
          </a:prstGeom>
          <a:solidFill>
            <a:srgbClr val="244E71"/>
          </a:solidFill>
          <a:ln w="12700">
            <a:solidFill>
              <a:srgbClr val="244E7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6565392" y="2084832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B3A57"/>
                </a:solidFill>
              </a:rPr>
              <a:t>ZEISS Vision Care</a:t>
            </a:r>
            <a:endParaRPr lang="en-US" sz="1140" dirty="0"/>
          </a:p>
        </p:txBody>
      </p:sp>
      <p:sp>
        <p:nvSpPr>
          <p:cNvPr id="25" name="Text 23"/>
          <p:cNvSpPr/>
          <p:nvPr/>
        </p:nvSpPr>
        <p:spPr>
          <a:xfrm>
            <a:off x="6565392" y="2624328"/>
            <a:ext cx="1353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44E71"/>
                </a:solidFill>
              </a:rPr>
              <a:t>450+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6565392" y="315468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667786"/>
                </a:solidFill>
              </a:rPr>
              <a:t>ZEISS Vision Centers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565392" y="3566160"/>
            <a:ext cx="1901952" cy="310896"/>
          </a:xfrm>
          <a:prstGeom prst="roundRect">
            <a:avLst/>
          </a:prstGeom>
          <a:solidFill>
            <a:srgbClr val="E8F3F8"/>
          </a:solidFill>
          <a:ln w="12700">
            <a:solidFill>
              <a:srgbClr val="E8F3F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6638544" y="3630168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B3A57"/>
                </a:solidFill>
              </a:rPr>
              <a:t>Almost 50 countries</a:t>
            </a:r>
            <a:endParaRPr lang="en-US" sz="830" dirty="0"/>
          </a:p>
        </p:txBody>
      </p:sp>
      <p:sp>
        <p:nvSpPr>
          <p:cNvPr id="29" name="Text 27"/>
          <p:cNvSpPr/>
          <p:nvPr/>
        </p:nvSpPr>
        <p:spPr>
          <a:xfrm>
            <a:off x="6565392" y="41605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2313F"/>
                </a:solidFill>
              </a:rPr>
              <a:t>Branded partner-led retail concept operated with independent eye-care professionals.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299448" y="1847088"/>
            <a:ext cx="2240280" cy="3913632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  <a:effectLst>
            <a:outerShdw blurRad="15240" dist="50800" dir="2700000" algn="bl" rotWithShape="0">
              <a:srgbClr val="C7D0D7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1" name="Shape 29"/>
          <p:cNvSpPr/>
          <p:nvPr/>
        </p:nvSpPr>
        <p:spPr>
          <a:xfrm>
            <a:off x="9299448" y="1847088"/>
            <a:ext cx="2240280" cy="109728"/>
          </a:xfrm>
          <a:prstGeom prst="rect">
            <a:avLst/>
          </a:prstGeom>
          <a:solidFill>
            <a:srgbClr val="5A9275"/>
          </a:solidFill>
          <a:ln w="12700">
            <a:solidFill>
              <a:srgbClr val="5A927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9445752" y="2084832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B3A57"/>
                </a:solidFill>
              </a:rPr>
              <a:t>HOYA Vision Care</a:t>
            </a:r>
            <a:endParaRPr lang="en-US" sz="1140" dirty="0"/>
          </a:p>
        </p:txBody>
      </p:sp>
      <p:sp>
        <p:nvSpPr>
          <p:cNvPr id="33" name="Text 31"/>
          <p:cNvSpPr/>
          <p:nvPr/>
        </p:nvSpPr>
        <p:spPr>
          <a:xfrm>
            <a:off x="9445752" y="2624328"/>
            <a:ext cx="1353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5A9275"/>
                </a:solidFill>
              </a:rPr>
              <a:t>110</a:t>
            </a:r>
            <a:endParaRPr lang="en-US" sz="2700" dirty="0"/>
          </a:p>
        </p:txBody>
      </p:sp>
      <p:sp>
        <p:nvSpPr>
          <p:cNvPr id="34" name="Text 32"/>
          <p:cNvSpPr/>
          <p:nvPr/>
        </p:nvSpPr>
        <p:spPr>
          <a:xfrm>
            <a:off x="9445752" y="315468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667786"/>
                </a:solidFill>
              </a:rPr>
              <a:t>countries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9445752" y="3566160"/>
            <a:ext cx="1901952" cy="310896"/>
          </a:xfrm>
          <a:prstGeom prst="roundRect">
            <a:avLst/>
          </a:prstGeom>
          <a:solidFill>
            <a:srgbClr val="E8F3F8"/>
          </a:solidFill>
          <a:ln w="12700">
            <a:solidFill>
              <a:srgbClr val="E8F3F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9518904" y="3630168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B3A57"/>
                </a:solidFill>
              </a:rPr>
              <a:t>43 labs • ECP-led B2B</a:t>
            </a:r>
            <a:endParaRPr lang="en-US" sz="830" dirty="0"/>
          </a:p>
        </p:txBody>
      </p:sp>
      <p:sp>
        <p:nvSpPr>
          <p:cNvPr id="37" name="Text 35"/>
          <p:cNvSpPr/>
          <p:nvPr/>
        </p:nvSpPr>
        <p:spPr>
          <a:xfrm>
            <a:off x="9445752" y="41605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2313F"/>
                </a:solidFill>
              </a:rPr>
              <a:t>International lab network; sells to eye-care providers rather than directly to patients.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4360" y="6291072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i="1" dirty="0">
                <a:solidFill>
                  <a:srgbClr val="93A1AD"/>
                </a:solidFill>
              </a:rPr>
              <a:t>Sources: company annual/corporate disclosures — Rodenstock (85+ countries); EssilorLuxottica 2025 Annual Report; ZEISS Vision Center materials; HOYA Vision Care FAQ.</a:t>
            </a:r>
            <a:endParaRPr lang="en-US" sz="74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109728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8B4B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2F75B5"/>
                </a:solidFill>
              </a:rPr>
              <a:t>THE “SO WHAT?” OF THE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3A57"/>
                </a:solidFill>
              </a:rPr>
              <a:t>Market trends → Rodenstock position → implication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1051560" cy="0"/>
          </a:xfrm>
          <a:prstGeom prst="line">
            <a:avLst/>
          </a:prstGeom>
          <a:noFill/>
          <a:ln w="28575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658368" y="1389888"/>
            <a:ext cx="1828800" cy="475488"/>
          </a:xfrm>
          <a:prstGeom prst="rect">
            <a:avLst/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768096" y="1545336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b="1" dirty="0">
                <a:solidFill>
                  <a:srgbClr val="FFFFFF"/>
                </a:solidFill>
              </a:rPr>
              <a:t>Trend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2487168" y="1389888"/>
            <a:ext cx="2057400" cy="475488"/>
          </a:xfrm>
          <a:prstGeom prst="rect">
            <a:avLst/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2596896" y="1545336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Rodenstock today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4544568" y="1389888"/>
            <a:ext cx="3246120" cy="475488"/>
          </a:xfrm>
          <a:prstGeom prst="rect">
            <a:avLst/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654296" y="1545336"/>
            <a:ext cx="3026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Gap / opportunity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790688" y="1389888"/>
            <a:ext cx="3749040" cy="475488"/>
          </a:xfrm>
          <a:prstGeom prst="rect">
            <a:avLst/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7900416" y="1545336"/>
            <a:ext cx="3529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Strategic implication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658368" y="1865376"/>
            <a:ext cx="182880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768096" y="201168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22313F"/>
                </a:solidFill>
              </a:rPr>
              <a:t>Ageing / presbyopia</a:t>
            </a:r>
            <a:endParaRPr lang="en-US" sz="910" dirty="0"/>
          </a:p>
        </p:txBody>
      </p:sp>
      <p:sp>
        <p:nvSpPr>
          <p:cNvPr id="15" name="Shape 13"/>
          <p:cNvSpPr/>
          <p:nvPr/>
        </p:nvSpPr>
        <p:spPr>
          <a:xfrm>
            <a:off x="2487168" y="1865376"/>
            <a:ext cx="205740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2596896" y="201168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2313F"/>
                </a:solidFill>
              </a:rPr>
              <a:t>Strong progressive portfolio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4544568" y="1865376"/>
            <a:ext cx="324612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4654296" y="201168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2313F"/>
                </a:solidFill>
              </a:rPr>
              <a:t>Demographics (22% of the EU population was aged 65+ in 2025) support long-term category relevance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90688" y="1865376"/>
            <a:ext cx="37490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7900416" y="2011680"/>
            <a:ext cx="3529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B3A57"/>
                </a:solidFill>
              </a:rPr>
              <a:t>Expand premium progressive value through comfort, adaptation and measurable wearer benefits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58368" y="2688336"/>
            <a:ext cx="1828800" cy="804672"/>
          </a:xfrm>
          <a:prstGeom prst="rect">
            <a:avLst/>
          </a:prstGeom>
          <a:solidFill>
            <a:srgbClr val="EFF4F7"/>
          </a:solidFill>
          <a:ln w="1016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768096" y="283464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22313F"/>
                </a:solidFill>
              </a:rPr>
              <a:t>Myopia management</a:t>
            </a:r>
            <a:endParaRPr lang="en-US" sz="910" dirty="0"/>
          </a:p>
        </p:txBody>
      </p:sp>
      <p:sp>
        <p:nvSpPr>
          <p:cNvPr id="23" name="Shape 21"/>
          <p:cNvSpPr/>
          <p:nvPr/>
        </p:nvSpPr>
        <p:spPr>
          <a:xfrm>
            <a:off x="2487168" y="2688336"/>
            <a:ext cx="2057400" cy="804672"/>
          </a:xfrm>
          <a:prstGeom prst="rect">
            <a:avLst/>
          </a:prstGeom>
          <a:solidFill>
            <a:srgbClr val="EFF4F7"/>
          </a:solidFill>
          <a:ln w="1016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2596896" y="28346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2313F"/>
                </a:solidFill>
              </a:rPr>
              <a:t>MyCon 2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4544568" y="2688336"/>
            <a:ext cx="3246120" cy="804672"/>
          </a:xfrm>
          <a:prstGeom prst="rect">
            <a:avLst/>
          </a:prstGeom>
          <a:solidFill>
            <a:srgbClr val="EFF4F7"/>
          </a:solidFill>
          <a:ln w="1016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4654296" y="283464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2313F"/>
                </a:solidFill>
              </a:rPr>
              <a:t>Strong competing platforms: Stellest, MiYOSMART, MyoCare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7790688" y="2688336"/>
            <a:ext cx="3749040" cy="804672"/>
          </a:xfrm>
          <a:prstGeom prst="rect">
            <a:avLst/>
          </a:prstGeom>
          <a:solidFill>
            <a:srgbClr val="EFF4F7"/>
          </a:solidFill>
          <a:ln w="1016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7900416" y="2834640"/>
            <a:ext cx="3529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B3A57"/>
                </a:solidFill>
              </a:rPr>
              <a:t>Strengthen clinical evidence, optician education and communication around MyCon 2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658368" y="3511296"/>
            <a:ext cx="182880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768096" y="365760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22313F"/>
                </a:solidFill>
              </a:rPr>
              <a:t>Personalisation</a:t>
            </a:r>
            <a:endParaRPr lang="en-US" sz="910" dirty="0"/>
          </a:p>
        </p:txBody>
      </p:sp>
      <p:sp>
        <p:nvSpPr>
          <p:cNvPr id="31" name="Shape 29"/>
          <p:cNvSpPr/>
          <p:nvPr/>
        </p:nvSpPr>
        <p:spPr>
          <a:xfrm>
            <a:off x="2487168" y="3511296"/>
            <a:ext cx="205740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2596896" y="365760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2313F"/>
                </a:solidFill>
              </a:rPr>
              <a:t>B.I.G. EXACT + biometric positioning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4544568" y="3511296"/>
            <a:ext cx="324612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4654296" y="365760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2313F"/>
                </a:solidFill>
              </a:rPr>
              <a:t>Personalisation is common competitor language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7790688" y="3511296"/>
            <a:ext cx="37490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7900416" y="3657600"/>
            <a:ext cx="3529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B3A57"/>
                </a:solidFill>
              </a:rPr>
              <a:t>Differentiate biometric depth and prove wearer outcomes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658368" y="4334256"/>
            <a:ext cx="1828800" cy="804672"/>
          </a:xfrm>
          <a:prstGeom prst="rect">
            <a:avLst/>
          </a:prstGeom>
          <a:solidFill>
            <a:srgbClr val="EFF4F7"/>
          </a:solidFill>
          <a:ln w="1016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768096" y="448056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22313F"/>
                </a:solidFill>
              </a:rPr>
              <a:t>Premium coatings</a:t>
            </a:r>
            <a:endParaRPr lang="en-US" sz="910" dirty="0"/>
          </a:p>
        </p:txBody>
      </p:sp>
      <p:sp>
        <p:nvSpPr>
          <p:cNvPr id="39" name="Shape 37"/>
          <p:cNvSpPr/>
          <p:nvPr/>
        </p:nvSpPr>
        <p:spPr>
          <a:xfrm>
            <a:off x="2487168" y="4334256"/>
            <a:ext cx="2057400" cy="804672"/>
          </a:xfrm>
          <a:prstGeom prst="rect">
            <a:avLst/>
          </a:prstGeom>
          <a:solidFill>
            <a:srgbClr val="EFF4F7"/>
          </a:solidFill>
          <a:ln w="1016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38"/>
          <p:cNvSpPr/>
          <p:nvPr/>
        </p:nvSpPr>
        <p:spPr>
          <a:xfrm>
            <a:off x="2596896" y="448056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2313F"/>
                </a:solidFill>
              </a:rPr>
              <a:t>Solitaire LayR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4544568" y="4334256"/>
            <a:ext cx="3246120" cy="804672"/>
          </a:xfrm>
          <a:prstGeom prst="rect">
            <a:avLst/>
          </a:prstGeom>
          <a:solidFill>
            <a:srgbClr val="EFF4F7"/>
          </a:solidFill>
          <a:ln w="1016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Text 40"/>
          <p:cNvSpPr/>
          <p:nvPr/>
        </p:nvSpPr>
        <p:spPr>
          <a:xfrm>
            <a:off x="4654296" y="448056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2313F"/>
                </a:solidFill>
              </a:rPr>
              <a:t>All major competitors offer premium coatings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7790688" y="4334256"/>
            <a:ext cx="3749040" cy="804672"/>
          </a:xfrm>
          <a:prstGeom prst="rect">
            <a:avLst/>
          </a:prstGeom>
          <a:solidFill>
            <a:srgbClr val="EFF4F7"/>
          </a:solidFill>
          <a:ln w="1016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Text 42"/>
          <p:cNvSpPr/>
          <p:nvPr/>
        </p:nvSpPr>
        <p:spPr>
          <a:xfrm>
            <a:off x="7900416" y="4480560"/>
            <a:ext cx="3529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B3A57"/>
                </a:solidFill>
              </a:rPr>
              <a:t>Use coating as part of a broader premium proposition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658368" y="5157216"/>
            <a:ext cx="182880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44"/>
          <p:cNvSpPr/>
          <p:nvPr/>
        </p:nvSpPr>
        <p:spPr>
          <a:xfrm>
            <a:off x="768096" y="530352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22313F"/>
                </a:solidFill>
              </a:rPr>
              <a:t>Channel structure</a:t>
            </a:r>
            <a:endParaRPr lang="en-US" sz="910" dirty="0"/>
          </a:p>
        </p:txBody>
      </p:sp>
      <p:sp>
        <p:nvSpPr>
          <p:cNvPr id="47" name="Shape 45"/>
          <p:cNvSpPr/>
          <p:nvPr/>
        </p:nvSpPr>
        <p:spPr>
          <a:xfrm>
            <a:off x="2487168" y="5157216"/>
            <a:ext cx="205740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8" name="Text 46"/>
          <p:cNvSpPr/>
          <p:nvPr/>
        </p:nvSpPr>
        <p:spPr>
          <a:xfrm>
            <a:off x="2596896" y="530352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2313F"/>
                </a:solidFill>
              </a:rPr>
              <a:t>Partner-optician model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4544568" y="5157216"/>
            <a:ext cx="324612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Text 48"/>
          <p:cNvSpPr/>
          <p:nvPr/>
        </p:nvSpPr>
        <p:spPr>
          <a:xfrm>
            <a:off x="4654296" y="530352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2313F"/>
                </a:solidFill>
              </a:rPr>
              <a:t>Large accounts matter; online remains secondary in Germany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7790688" y="5157216"/>
            <a:ext cx="37490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2" name="Text 50"/>
          <p:cNvSpPr/>
          <p:nvPr/>
        </p:nvSpPr>
        <p:spPr>
          <a:xfrm>
            <a:off x="7900416" y="5303520"/>
            <a:ext cx="3529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B3A57"/>
                </a:solidFill>
              </a:rPr>
              <a:t>Tailor B2B proposition by account type and support the in-store journey</a:t>
            </a:r>
            <a:endParaRPr lang="en-US" sz="880" dirty="0"/>
          </a:p>
        </p:txBody>
      </p:sp>
      <p:sp>
        <p:nvSpPr>
          <p:cNvPr id="53" name="Text 51"/>
          <p:cNvSpPr/>
          <p:nvPr/>
        </p:nvSpPr>
        <p:spPr>
          <a:xfrm>
            <a:off x="594360" y="6291072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i="1" dirty="0">
                <a:solidFill>
                  <a:srgbClr val="93A1AD"/>
                </a:solidFill>
              </a:rPr>
              <a:t>Sources: Eurostat; ZVA; official Rodenstock, Essilor, ZEISS and HOYA product/corporate sources; selected scientific literature.</a:t>
            </a:r>
            <a:endParaRPr lang="en-US" sz="740" dirty="0"/>
          </a:p>
        </p:txBody>
      </p:sp>
      <p:sp>
        <p:nvSpPr>
          <p:cNvPr id="5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109728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8B4B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2F75B5"/>
                </a:solidFill>
              </a:rPr>
              <a:t>IMPLICATIONS FOR RODENSTOCK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3A57"/>
                </a:solidFill>
              </a:rPr>
              <a:t>Four strategic priorities emerging from the case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1051560" cy="0"/>
          </a:xfrm>
          <a:prstGeom prst="line">
            <a:avLst/>
          </a:prstGeom>
          <a:noFill/>
          <a:ln w="28575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713232" y="1417320"/>
            <a:ext cx="534924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  <a:effectLst>
            <a:outerShdw blurRad="15240" dist="50800" dir="2700000" algn="bl" rotWithShape="0">
              <a:srgbClr val="C7D0D7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877824" y="1581912"/>
            <a:ext cx="411480" cy="411480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877824" y="1682496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26464" y="1572768"/>
            <a:ext cx="4471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B3A57"/>
                </a:solidFill>
              </a:rPr>
              <a:t>Prove biometric value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1426464" y="1947672"/>
            <a:ext cx="447141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313F"/>
                </a:solidFill>
              </a:rPr>
              <a:t>Personalisation is now common competitor language. Rodenstock’s advantage is the depth of biometric measurement — so the proof should focus on wearer outcomes, not just the word “personalised”.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6144768" y="1417320"/>
            <a:ext cx="534924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  <a:effectLst>
            <a:outerShdw blurRad="15240" dist="50800" dir="2700000" algn="bl" rotWithShape="0">
              <a:srgbClr val="C7D0D7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6309360" y="1581912"/>
            <a:ext cx="411480" cy="411480"/>
          </a:xfrm>
          <a:prstGeom prst="ellipse">
            <a:avLst/>
          </a:prstGeom>
          <a:solidFill>
            <a:srgbClr val="C7964B"/>
          </a:solidFill>
          <a:ln w="12700">
            <a:solidFill>
              <a:srgbClr val="C7964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309360" y="1682496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0" y="1572768"/>
            <a:ext cx="4471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B3A57"/>
                </a:solidFill>
              </a:rPr>
              <a:t>Strengthen MyCon 2 evidence &amp; education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6858000" y="1947672"/>
            <a:ext cx="447141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313F"/>
                </a:solidFill>
              </a:rPr>
              <a:t>The category is crowded with Stellest, MiYOSMART and MyoCare. Competitive defence should combine clinical evidence, optician education and clear parent-facing communication.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713232" y="3584448"/>
            <a:ext cx="534924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  <a:effectLst>
            <a:outerShdw blurRad="15240" dist="50800" dir="2700000" algn="bl" rotWithShape="0">
              <a:srgbClr val="C7D0D7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877824" y="3749040"/>
            <a:ext cx="411480" cy="411480"/>
          </a:xfrm>
          <a:prstGeom prst="ellipse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877824" y="3849624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26464" y="3739896"/>
            <a:ext cx="4471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B3A57"/>
                </a:solidFill>
              </a:rPr>
              <a:t>Package coatings into a broader premium proposition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1426464" y="4114800"/>
            <a:ext cx="447141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313F"/>
                </a:solidFill>
              </a:rPr>
              <a:t>Premium coatings are available across all major competitors. The stronger story is the combined wearer benefit of lens design + coating rather than a stand-alone coating claim.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6144768" y="3584448"/>
            <a:ext cx="534924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  <a:effectLst>
            <a:outerShdw blurRad="15240" dist="50800" dir="2700000" algn="bl" rotWithShape="0">
              <a:srgbClr val="C7D0D7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6309360" y="3749040"/>
            <a:ext cx="411480" cy="411480"/>
          </a:xfrm>
          <a:prstGeom prst="ellipse">
            <a:avLst/>
          </a:prstGeom>
          <a:solidFill>
            <a:srgbClr val="5A9275"/>
          </a:solidFill>
          <a:ln w="12700">
            <a:solidFill>
              <a:srgbClr val="5A927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6309360" y="3849624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0" y="3739896"/>
            <a:ext cx="4471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B3A57"/>
                </a:solidFill>
              </a:rPr>
              <a:t>Tailor the proposition by channel</a:t>
            </a:r>
            <a:endParaRPr lang="en-US" sz="1230" dirty="0"/>
          </a:p>
        </p:txBody>
      </p:sp>
      <p:sp>
        <p:nvSpPr>
          <p:cNvPr id="24" name="Text 22"/>
          <p:cNvSpPr/>
          <p:nvPr/>
        </p:nvSpPr>
        <p:spPr>
          <a:xfrm>
            <a:off x="6858000" y="4114800"/>
            <a:ext cx="447141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313F"/>
                </a:solidFill>
              </a:rPr>
              <a:t>Large accounts represent a substantial share of German optical revenue, while professional consultation remains central. Key accounts and independent premium opticians need different support.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713232" y="5687568"/>
            <a:ext cx="10780776" cy="411480"/>
          </a:xfrm>
          <a:prstGeom prst="roundRect">
            <a:avLst>
              <a:gd name="adj" fmla="val 15556"/>
            </a:avLst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932688" y="5806440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</a:rPr>
              <a:t>Cross-cutting Market Intelligence need: continuously monitor competitor evidence, channel shifts and wearer/customer outcomes.</a:t>
            </a:r>
            <a:endParaRPr lang="en-US" sz="94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109728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8B4B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2F75B5"/>
                </a:solidFill>
              </a:rPr>
              <a:t>PORTFOLIO APPENDIX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3A57"/>
                </a:solidFill>
              </a:rPr>
              <a:t>Selected sources and research notes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1051560" cy="0"/>
          </a:xfrm>
          <a:prstGeom prst="line">
            <a:avLst/>
          </a:prstGeom>
          <a:noFill/>
          <a:ln w="28575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07492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  <a:effectLst>
            <a:outerShdw blurRad="15240" dist="50800" dir="2700000" algn="bl" rotWithShape="0">
              <a:srgbClr val="C7D0D7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932688" y="16459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7"/>
                </a:solidFill>
              </a:rPr>
              <a:t>Market &amp; demographics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69264" y="2121408"/>
            <a:ext cx="73152" cy="73152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161288" y="2039112"/>
            <a:ext cx="4325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2313F"/>
                </a:solidFill>
              </a:rPr>
              <a:t>Global Market Insights — Europe Ophthalmic Lenses Market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969264" y="2432304"/>
            <a:ext cx="73152" cy="73152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1161288" y="2350008"/>
            <a:ext cx="4325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2313F"/>
                </a:solidFill>
              </a:rPr>
              <a:t>Eurostat — Demography of Europe 2026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969264" y="2743200"/>
            <a:ext cx="73152" cy="73152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1161288" y="2660904"/>
            <a:ext cx="4325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2313F"/>
                </a:solidFill>
              </a:rPr>
              <a:t>ZVA — Branchenbericht 2025/2026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6172200" y="1463040"/>
            <a:ext cx="507492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  <a:effectLst>
            <a:outerShdw blurRad="15240" dist="50800" dir="2700000" algn="bl" rotWithShape="0">
              <a:srgbClr val="C7D0D7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373368" y="16459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7"/>
                </a:solidFill>
              </a:rPr>
              <a:t>Rodenstock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9944" y="2121408"/>
            <a:ext cx="73152" cy="73152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6601968" y="2039112"/>
            <a:ext cx="4325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2313F"/>
                </a:solidFill>
              </a:rPr>
              <a:t>B.I.G. VISION / B.I.G. EXACT Sensitive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6409944" y="2432304"/>
            <a:ext cx="73152" cy="73152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6601968" y="2350008"/>
            <a:ext cx="4325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2313F"/>
                </a:solidFill>
              </a:rPr>
              <a:t>Children’s lenses / MyCon 2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6409944" y="2743200"/>
            <a:ext cx="73152" cy="73152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6601968" y="2660904"/>
            <a:ext cx="4325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2313F"/>
                </a:solidFill>
              </a:rPr>
              <a:t>Lens portfolio / Solitaire LayR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6409944" y="3054096"/>
            <a:ext cx="73152" cy="73152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6601968" y="2971800"/>
            <a:ext cx="4325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2313F"/>
                </a:solidFill>
              </a:rPr>
              <a:t>Company / channel footprint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731520" y="3803904"/>
            <a:ext cx="507492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  <a:effectLst>
            <a:outerShdw blurRad="15240" dist="50800" dir="2700000" algn="bl" rotWithShape="0">
              <a:srgbClr val="C7D0D7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932688" y="39867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7"/>
                </a:solidFill>
              </a:rPr>
              <a:t>Competitors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9264" y="4462272"/>
            <a:ext cx="73152" cy="73152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1161288" y="4379976"/>
            <a:ext cx="4325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2313F"/>
                </a:solidFill>
              </a:rPr>
              <a:t>Essilor: Varilux XR, Stellest, Crizal Sapphire HR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969264" y="4773168"/>
            <a:ext cx="73152" cy="73152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1161288" y="4690872"/>
            <a:ext cx="4325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2313F"/>
                </a:solidFill>
              </a:rPr>
              <a:t>EssilorLuxottica 2025 Annual Report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969264" y="5084064"/>
            <a:ext cx="73152" cy="73152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1161288" y="5001768"/>
            <a:ext cx="4325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2313F"/>
                </a:solidFill>
              </a:rPr>
              <a:t>ZEISS: ClearMind, MyoCare, DuraVision, Vision Center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969264" y="5394960"/>
            <a:ext cx="73152" cy="73152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1161288" y="5312664"/>
            <a:ext cx="4325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2313F"/>
                </a:solidFill>
              </a:rPr>
              <a:t>HOYA: Hoyalux iD MySense, MiYOSMART, Meiryo, channel FAQ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6172200" y="3803904"/>
            <a:ext cx="507492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  <a:effectLst>
            <a:outerShdw blurRad="15240" dist="50800" dir="2700000" algn="bl" rotWithShape="0">
              <a:srgbClr val="C7D0D7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6373368" y="39867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7"/>
                </a:solidFill>
              </a:rPr>
              <a:t>Scientific context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9944" y="4462272"/>
            <a:ext cx="73152" cy="73152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6601968" y="4379976"/>
            <a:ext cx="4325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2313F"/>
                </a:solidFill>
              </a:rPr>
              <a:t>PubMed — European myopia meta-analysis (2025)</a:t>
            </a:r>
            <a:endParaRPr lang="en-US" sz="840" dirty="0"/>
          </a:p>
        </p:txBody>
      </p:sp>
      <p:sp>
        <p:nvSpPr>
          <p:cNvPr id="37" name="Text 35"/>
          <p:cNvSpPr/>
          <p:nvPr/>
        </p:nvSpPr>
        <p:spPr>
          <a:xfrm>
            <a:off x="731520" y="5943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1B3A57"/>
                </a:solidFill>
              </a:rPr>
              <a:t>Limitations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1645920" y="5879592"/>
            <a:ext cx="9555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67786"/>
                </a:solidFill>
              </a:rPr>
              <a:t>Public market-size definitions vary; product pages are marketing sources; European countries differ in reimbursement and retail structure; a real company project would validate findings with internal sales data, customer research and paid databases.</a:t>
            </a:r>
            <a:endParaRPr lang="en-US" sz="83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109728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8B4B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2F75B5"/>
                </a:solidFill>
              </a:rPr>
              <a:t>FROM RESEARCH QUESTION TO DECISION-ORIENTED STORY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12064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3A57"/>
                </a:solidFill>
              </a:rPr>
              <a:t>What this portfolio case demonstrates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1051560" cy="0"/>
          </a:xfrm>
          <a:prstGeom prst="line">
            <a:avLst/>
          </a:prstGeom>
          <a:noFill/>
          <a:ln w="28575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777240" y="1572768"/>
            <a:ext cx="2121408" cy="1463040"/>
          </a:xfrm>
          <a:prstGeom prst="roundRect">
            <a:avLst>
              <a:gd name="adj" fmla="val 4375"/>
            </a:avLst>
          </a:prstGeom>
          <a:solidFill>
            <a:srgbClr val="E8F3F8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914400" y="1728216"/>
            <a:ext cx="384048" cy="384048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1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399032" y="172821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B3A57"/>
                </a:solidFill>
              </a:rPr>
              <a:t>Define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41832" y="2258568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22313F"/>
                </a:solidFill>
              </a:rPr>
              <a:t>Narrow the market to prescription spectacle lenses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3063240" y="1572768"/>
            <a:ext cx="2121408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3200400" y="1728216"/>
            <a:ext cx="384048" cy="384048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3200400" y="1828800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2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3685032" y="172821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B3A57"/>
                </a:solidFill>
              </a:rPr>
              <a:t>Research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27832" y="2258568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22313F"/>
                </a:solidFill>
              </a:rPr>
              <a:t>Collect public industry, demographic, company and scientific evidence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5349240" y="1572768"/>
            <a:ext cx="2121408" cy="1463040"/>
          </a:xfrm>
          <a:prstGeom prst="roundRect">
            <a:avLst>
              <a:gd name="adj" fmla="val 4375"/>
            </a:avLst>
          </a:prstGeom>
          <a:solidFill>
            <a:srgbClr val="E8F3F8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5486400" y="1728216"/>
            <a:ext cx="384048" cy="384048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486400" y="1828800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3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971032" y="172821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B3A57"/>
                </a:solidFill>
              </a:rPr>
              <a:t>Analyse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513832" y="2258568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22313F"/>
                </a:solidFill>
              </a:rPr>
              <a:t>Build market context and a Germany trend view in Excel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7635240" y="1572768"/>
            <a:ext cx="2121408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7772400" y="1728216"/>
            <a:ext cx="384048" cy="384048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7772400" y="1828800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4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8257032" y="172821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B3A57"/>
                </a:solidFill>
              </a:rPr>
              <a:t>Benchmark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799832" y="2258568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22313F"/>
                </a:solidFill>
              </a:rPr>
              <a:t>Compare product technologies and channel models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9921240" y="1572768"/>
            <a:ext cx="2121408" cy="1463040"/>
          </a:xfrm>
          <a:prstGeom prst="roundRect">
            <a:avLst>
              <a:gd name="adj" fmla="val 4375"/>
            </a:avLst>
          </a:prstGeom>
          <a:solidFill>
            <a:srgbClr val="E8F3F8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10058400" y="1728216"/>
            <a:ext cx="384048" cy="384048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10058400" y="1828800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5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10543032" y="172821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B3A57"/>
                </a:solidFill>
              </a:rPr>
              <a:t>Translate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085832" y="2258568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22313F"/>
                </a:solidFill>
              </a:rPr>
              <a:t>Turn evidence into Rodenstock-specific implications</a:t>
            </a:r>
            <a:endParaRPr lang="en-US" sz="870" dirty="0"/>
          </a:p>
        </p:txBody>
      </p:sp>
      <p:sp>
        <p:nvSpPr>
          <p:cNvPr id="30" name="Text 28"/>
          <p:cNvSpPr/>
          <p:nvPr/>
        </p:nvSpPr>
        <p:spPr>
          <a:xfrm>
            <a:off x="777240" y="34290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7"/>
                </a:solidFill>
              </a:rPr>
              <a:t>Skills demonstrated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77240" y="3886200"/>
            <a:ext cx="2615184" cy="310896"/>
          </a:xfrm>
          <a:prstGeom prst="roundRect">
            <a:avLst/>
          </a:prstGeom>
          <a:solidFill>
            <a:srgbClr val="DDEBF3"/>
          </a:solidFill>
          <a:ln w="12700">
            <a:solidFill>
              <a:srgbClr val="DDEBF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850392" y="395020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B3A57"/>
                </a:solidFill>
              </a:rPr>
              <a:t>Secondary research &amp; source evaluation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3566160" y="3886200"/>
            <a:ext cx="2615184" cy="310896"/>
          </a:xfrm>
          <a:prstGeom prst="roundRect">
            <a:avLst/>
          </a:prstGeom>
          <a:solidFill>
            <a:srgbClr val="DDEBF3"/>
          </a:solidFill>
          <a:ln w="12700">
            <a:solidFill>
              <a:srgbClr val="DDEBF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3639312" y="395020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B3A57"/>
                </a:solidFill>
              </a:rPr>
              <a:t>Excel trend analysis and data visualisation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777240" y="4416552"/>
            <a:ext cx="2615184" cy="310896"/>
          </a:xfrm>
          <a:prstGeom prst="roundRect">
            <a:avLst/>
          </a:prstGeom>
          <a:solidFill>
            <a:srgbClr val="DDEBF3"/>
          </a:solidFill>
          <a:ln w="12700">
            <a:solidFill>
              <a:srgbClr val="DDEBF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850392" y="448056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B3A57"/>
                </a:solidFill>
              </a:rPr>
              <a:t>Competitor &amp; product benchmarking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3566160" y="4416552"/>
            <a:ext cx="2615184" cy="310896"/>
          </a:xfrm>
          <a:prstGeom prst="roundRect">
            <a:avLst/>
          </a:prstGeom>
          <a:solidFill>
            <a:srgbClr val="DDEBF3"/>
          </a:solidFill>
          <a:ln w="12700">
            <a:solidFill>
              <a:srgbClr val="DDEBF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3639312" y="448056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B3A57"/>
                </a:solidFill>
              </a:rPr>
              <a:t>Channel-model analysis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777240" y="4946904"/>
            <a:ext cx="2615184" cy="310896"/>
          </a:xfrm>
          <a:prstGeom prst="roundRect">
            <a:avLst/>
          </a:prstGeom>
          <a:solidFill>
            <a:srgbClr val="F8F1E5"/>
          </a:solidFill>
          <a:ln w="12700">
            <a:solidFill>
              <a:srgbClr val="F8F1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38"/>
          <p:cNvSpPr/>
          <p:nvPr/>
        </p:nvSpPr>
        <p:spPr>
          <a:xfrm>
            <a:off x="850392" y="501091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C7964B"/>
                </a:solidFill>
              </a:rPr>
              <a:t>Strategic synthesis and presentation storytelling</a:t>
            </a:r>
            <a:endParaRPr lang="en-US" sz="830" dirty="0"/>
          </a:p>
        </p:txBody>
      </p:sp>
      <p:sp>
        <p:nvSpPr>
          <p:cNvPr id="41" name="Shape 39"/>
          <p:cNvSpPr/>
          <p:nvPr/>
        </p:nvSpPr>
        <p:spPr>
          <a:xfrm>
            <a:off x="6720840" y="3429000"/>
            <a:ext cx="4709160" cy="2240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  <a:effectLst>
            <a:outerShdw blurRad="15240" dist="50800" dir="2700000" algn="bl" rotWithShape="0">
              <a:srgbClr val="C7D0D7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2" name="Text 40"/>
          <p:cNvSpPr/>
          <p:nvPr/>
        </p:nvSpPr>
        <p:spPr>
          <a:xfrm>
            <a:off x="6976872" y="36758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B3A57"/>
                </a:solidFill>
              </a:rPr>
              <a:t>Methodological discipline</a:t>
            </a:r>
            <a:endParaRPr lang="en-US" sz="1320" dirty="0"/>
          </a:p>
        </p:txBody>
      </p:sp>
      <p:sp>
        <p:nvSpPr>
          <p:cNvPr id="43" name="Shape 41"/>
          <p:cNvSpPr/>
          <p:nvPr/>
        </p:nvSpPr>
        <p:spPr>
          <a:xfrm>
            <a:off x="7004304" y="4160520"/>
            <a:ext cx="82296" cy="82296"/>
          </a:xfrm>
          <a:prstGeom prst="ellipse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Text 42"/>
          <p:cNvSpPr/>
          <p:nvPr/>
        </p:nvSpPr>
        <p:spPr>
          <a:xfrm>
            <a:off x="7205472" y="407822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22313F"/>
                </a:solidFill>
              </a:rPr>
              <a:t>Broader GMI market estimate kept separate from spectacle-lens TAM</a:t>
            </a:r>
            <a:endParaRPr lang="en-US" sz="870" dirty="0"/>
          </a:p>
        </p:txBody>
      </p:sp>
      <p:sp>
        <p:nvSpPr>
          <p:cNvPr id="45" name="Shape 43"/>
          <p:cNvSpPr/>
          <p:nvPr/>
        </p:nvSpPr>
        <p:spPr>
          <a:xfrm>
            <a:off x="7004304" y="4517136"/>
            <a:ext cx="82296" cy="82296"/>
          </a:xfrm>
          <a:prstGeom prst="ellipse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44"/>
          <p:cNvSpPr/>
          <p:nvPr/>
        </p:nvSpPr>
        <p:spPr>
          <a:xfrm>
            <a:off x="7205472" y="44348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22313F"/>
                </a:solidFill>
              </a:rPr>
              <a:t>Germany treated as a transparent deep dive — not a proxy for all Europe</a:t>
            </a:r>
            <a:endParaRPr lang="en-US" sz="870" dirty="0"/>
          </a:p>
        </p:txBody>
      </p:sp>
      <p:sp>
        <p:nvSpPr>
          <p:cNvPr id="47" name="Shape 45"/>
          <p:cNvSpPr/>
          <p:nvPr/>
        </p:nvSpPr>
        <p:spPr>
          <a:xfrm>
            <a:off x="7004304" y="4873752"/>
            <a:ext cx="82296" cy="82296"/>
          </a:xfrm>
          <a:prstGeom prst="ellipse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8" name="Text 46"/>
          <p:cNvSpPr/>
          <p:nvPr/>
        </p:nvSpPr>
        <p:spPr>
          <a:xfrm>
            <a:off x="7205472" y="479145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22313F"/>
                </a:solidFill>
              </a:rPr>
              <a:t>Product claims compared descriptively because test methods differ</a:t>
            </a:r>
            <a:endParaRPr lang="en-US" sz="870" dirty="0"/>
          </a:p>
        </p:txBody>
      </p:sp>
      <p:sp>
        <p:nvSpPr>
          <p:cNvPr id="49" name="Shape 47"/>
          <p:cNvSpPr/>
          <p:nvPr/>
        </p:nvSpPr>
        <p:spPr>
          <a:xfrm>
            <a:off x="7004304" y="5230368"/>
            <a:ext cx="82296" cy="82296"/>
          </a:xfrm>
          <a:prstGeom prst="ellipse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Text 48"/>
          <p:cNvSpPr/>
          <p:nvPr/>
        </p:nvSpPr>
        <p:spPr>
          <a:xfrm>
            <a:off x="7205472" y="514807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22313F"/>
                </a:solidFill>
              </a:rPr>
              <a:t>Channel metrics not reduced to an artificial numeric ranking</a:t>
            </a:r>
            <a:endParaRPr lang="en-US" sz="87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109728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8B4B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1436</Words>
  <Application>Microsoft Office PowerPoint</Application>
  <PresentationFormat>Breitbild</PresentationFormat>
  <Paragraphs>255</Paragraphs>
  <Slides>10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3" baseType="lpstr">
      <vt:lpstr>Aptos</vt:lpstr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Portfolio case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European Optical Market &amp; Competitor Analysis</dc:title>
  <dc:subject>European Optical Market &amp; Competitor Analysis</dc:subject>
  <dc:creator>OpenAI</dc:creator>
  <cp:lastModifiedBy>Ekaterina Kovru</cp:lastModifiedBy>
  <cp:revision>3</cp:revision>
  <dcterms:created xsi:type="dcterms:W3CDTF">2026-09-23T13:56:27Z</dcterms:created>
  <dcterms:modified xsi:type="dcterms:W3CDTF">2026-09-23T21:37:43Z</dcterms:modified>
</cp:coreProperties>
</file>